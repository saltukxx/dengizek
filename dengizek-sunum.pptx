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B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188720"/>
            <a:ext cx="548640" cy="36576"/>
          </a:xfrm>
          <a:prstGeom prst="rect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BE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DENGIZEK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303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C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Otel Pazaryeri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C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Etkileşimli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C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 Turları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B68A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Misafir, otele adım atmadan önce görür;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B68A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dokunmasa da gezer.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709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B6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durumu ve yol haritası  ·  Nisan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0" y="548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6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35040" y="36576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6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 + Talep
</a:t>
            </a:r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6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 yok (v1)
</a:t>
            </a:r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6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~150–500 otel hedef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E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ÖZETI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Biz ne yapıyoruz?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91440" cy="91440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DENGIZEK  ·  Otel Pazaryeri &amp; Video Turları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Dengizek, otellerin; lobi, koridor ve odalarını adım adım, durdurulabilir video turlarla tanıttığı bir B2B2C keşif pazaryeridir. Misafir, gitmeden önce mekâna gerçek anlamda göz atar; etkileşimli bilgi kutuları, hotspot'lar ve dallanmalarla kendi rotasını çizer.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246120"/>
            <a:ext cx="2697480" cy="146304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246120"/>
            <a:ext cx="73152" cy="146304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47288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16152" y="3447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Otel listeleme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1520" y="39593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Şehir, oda tipi, kolaylıklar.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383280" y="3246120"/>
            <a:ext cx="2697480" cy="146304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83280" y="3246120"/>
            <a:ext cx="73152" cy="146304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3447288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96512" y="3447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 turları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611880" y="39593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Klip bazlı, altyazılı, kilitli adımlar.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263640" y="3246120"/>
            <a:ext cx="2697480" cy="146304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63640" y="3246120"/>
            <a:ext cx="73152" cy="146304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447288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76872" y="3447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Misafir yolu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492240" y="39593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Talep → otelle iletişim (komisyonsuz).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852160" y="1600200"/>
            <a:ext cx="2926080" cy="1463040"/>
          </a:xfrm>
          <a:prstGeom prst="ellipse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920240"/>
            <a:ext cx="640080" cy="6400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85216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6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Sinematik + rehber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E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/ ÇÖZÜM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Statik listeler, yorumlar, eksik öngörü.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91440" cy="91440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DENGIZEK  ·  Otel Pazaryeri &amp; Video Turları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4023360" cy="2880360"/>
          </a:xfrm>
          <a:prstGeom prst="rect">
            <a:avLst/>
          </a:prstGeom>
          <a:solidFill>
            <a:srgbClr val="EADCCB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91640"/>
            <a:ext cx="73152" cy="288036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Bugünkü sorun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Fotoğraflar gerçek ölçeği vermez.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yorumlarda gürültü yüksek.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 ≠ lobi; koridor, manzara sürpriz.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Rezervasyon öncesi itimat düşük.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691640"/>
            <a:ext cx="4023360" cy="288036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691640"/>
            <a:ext cx="73152" cy="288036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Bizim yaklaşımımız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46320" y="23774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adım, durdurulabilir rehberli tur.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adımda açıklayıcı kutular, hotspot.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Altyazı, klavye, azaltılmış hareket.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Talep → otelle doğrudan iletişim.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E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DENEYIM MODELI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İki katman: sinematik + rehber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91440" cy="91440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DENGIZEK  ·  Otel Pazaryeri &amp; Video Turları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Mühendislik izlenebilir, yapım güvenilir kalsın diye deneyimi iki katmana böldük. Sinematik katman önceden üretilmiş klipler (HLS/DASH); rehber katmanı kullanıcı temposuyla akan metin, hotspot, dallanma ve isteğe bağlı anlatımdır.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Kilitli adımlar, açık ritim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requiresUserContinue=true olan adımları misafir açıkça onaylar. Böylece akış, uzun metraj video yerine; pausable, konuşan bir rehbere benzer.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4206240" cy="310896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600200"/>
            <a:ext cx="4206240" cy="41148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6642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TourPlayer durum makinesi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2240280"/>
            <a:ext cx="164592" cy="164592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21488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0" y="214884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+ manifest hazır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697480"/>
            <a:ext cx="164592" cy="164592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26060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260604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klip penceresi oynuyor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3154680"/>
            <a:ext cx="164592" cy="164592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30632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pausedFor…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306324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etkileşim — kullanıcı onayı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3611880"/>
            <a:ext cx="164592" cy="164592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35204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352044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adıma geçiş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4069080"/>
            <a:ext cx="164592" cy="164592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39776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ended / error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397764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tamamlandı veya kurtarma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E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Sade, hızlı, bakımı kolay yığın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91440" cy="91440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DENGIZEK  ·  Otel Pazaryeri &amp; Video Turları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2697480" cy="297180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91640"/>
            <a:ext cx="2697480" cy="658368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56232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18562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Ön yüz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" y="2468880"/>
            <a:ext cx="2194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(App Router)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TypeScript, React 19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Mantine 7 (Tailwind yok)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 ikonlar, Georgia + Calibri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383280" y="1691640"/>
            <a:ext cx="2697480" cy="297180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83280" y="1691640"/>
            <a:ext cx="2697480" cy="658368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856232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23360" y="18562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 &amp; durum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657600" y="2468880"/>
            <a:ext cx="2194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hls.js + özel kontroller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ile manifest doğrulama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 makinesi + kısayollar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Altyazı, azaltılmış hareket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263640" y="1691640"/>
            <a:ext cx="2697480" cy="297180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63640" y="1691640"/>
            <a:ext cx="2697480" cy="658368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56232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03720" y="18562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Kalite &amp; test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537960" y="2468880"/>
            <a:ext cx="2194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birim testleri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+ Zod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next/font + tasarım token’ları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E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YETENEKLER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TourPlayer ne biliyor?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91440" cy="91440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DENGIZEK  ·  Otel Pazaryeri &amp; Video Turları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1920240" cy="141732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91640"/>
            <a:ext cx="1920240" cy="54864"/>
          </a:xfrm>
          <a:prstGeom prst="rect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874520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4088" y="222199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Klip bazlı akış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04088" y="2560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startSec/endSec pencereleri, adım sonunda bekleme.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606040" y="1691640"/>
            <a:ext cx="1920240" cy="141732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06040" y="1691640"/>
            <a:ext cx="1920240" cy="54864"/>
          </a:xfrm>
          <a:prstGeom prst="rect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208" y="1874520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07208" y="222199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Callout'lar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807208" y="2560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tSec'te açılan zaman damgalı bilgi kutuları.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709160" y="1691640"/>
            <a:ext cx="1920240" cy="141732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709160" y="1691640"/>
            <a:ext cx="1920240" cy="54864"/>
          </a:xfrm>
          <a:prstGeom prst="rect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1874520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910328" y="222199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Hotspot'lar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910328" y="2560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Yüzde koordinatlı tıklanabilir etiketler.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812280" y="1691640"/>
            <a:ext cx="1920240" cy="141732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812280" y="1691640"/>
            <a:ext cx="1920240" cy="54864"/>
          </a:xfrm>
          <a:prstGeom prst="rect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87452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13448" y="222199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Dallanma (MVP)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013448" y="2560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branches[]: aynı adımda yol seçimi, goToStepId.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502920" y="3246120"/>
            <a:ext cx="1920240" cy="141732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02920" y="3246120"/>
            <a:ext cx="1920240" cy="54864"/>
          </a:xfrm>
          <a:prstGeom prst="rect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3429000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04088" y="37764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Altyazı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704088" y="4114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WebVTT, TR varsayılan; her adım için geçiş.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2606040" y="3246120"/>
            <a:ext cx="1920240" cy="141732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2606040" y="3246120"/>
            <a:ext cx="1920240" cy="54864"/>
          </a:xfrm>
          <a:prstGeom prst="rect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7208" y="3429000"/>
            <a:ext cx="310896" cy="31089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2807208" y="37764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Erişilebilirlik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2807208" y="4114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2.2 AA; focus, aria-live, prefers-reduced-motion.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4709160" y="3246120"/>
            <a:ext cx="1920240" cy="141732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4709160" y="3246120"/>
            <a:ext cx="1920240" cy="54864"/>
          </a:xfrm>
          <a:prstGeom prst="rect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3429000"/>
            <a:ext cx="310896" cy="310896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4910328" y="37764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Klavye</a:t>
            </a:r>
            <a:endParaRPr lang="en-US" sz="1250" dirty="0"/>
          </a:p>
        </p:txBody>
      </p:sp>
      <p:sp>
        <p:nvSpPr>
          <p:cNvPr id="42" name="Text 33"/>
          <p:cNvSpPr/>
          <p:nvPr/>
        </p:nvSpPr>
        <p:spPr>
          <a:xfrm>
            <a:off x="4910328" y="4114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oynat/duraklat, Enter devam, ←/→ adımlar.</a:t>
            </a:r>
            <a:endParaRPr lang="en-US" sz="950" dirty="0"/>
          </a:p>
        </p:txBody>
      </p:sp>
      <p:sp>
        <p:nvSpPr>
          <p:cNvPr id="43" name="Shape 34"/>
          <p:cNvSpPr/>
          <p:nvPr/>
        </p:nvSpPr>
        <p:spPr>
          <a:xfrm>
            <a:off x="6812280" y="3246120"/>
            <a:ext cx="1920240" cy="141732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6812280" y="3246120"/>
            <a:ext cx="1920240" cy="54864"/>
          </a:xfrm>
          <a:prstGeom prst="rect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3448" y="3429000"/>
            <a:ext cx="310896" cy="310896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7013448" y="37764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 ekran + zaman çizelgesi</a:t>
            </a:r>
            <a:endParaRPr lang="en-US" sz="1250" dirty="0"/>
          </a:p>
        </p:txBody>
      </p:sp>
      <p:sp>
        <p:nvSpPr>
          <p:cNvPr id="47" name="Text 37"/>
          <p:cNvSpPr/>
          <p:nvPr/>
        </p:nvSpPr>
        <p:spPr>
          <a:xfrm>
            <a:off x="7013448" y="4114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Seek-bar, adım şeridi, ilerleme çubuğu.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E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 ÇERÇEVE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İki yüzey: misafir ve otel paneli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91440" cy="91440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DENGIZEK  ·  Otel Pazaryeri &amp; Video Turları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4114800" cy="320040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00200"/>
            <a:ext cx="4114800" cy="45720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70992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33272" y="1700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Misafir yüzeyi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834640" y="2148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 + öne çıkan oteller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1520" y="2532888"/>
            <a:ext cx="3657600" cy="9144"/>
          </a:xfrm>
          <a:prstGeom prst="rect">
            <a:avLst/>
          </a:prstGeom>
          <a:solidFill>
            <a:srgbClr val="E7D9C7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25694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/browse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834640" y="256946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 + filtreler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31520" y="2953512"/>
            <a:ext cx="3657600" cy="9144"/>
          </a:xfrm>
          <a:prstGeom prst="rect">
            <a:avLst/>
          </a:prstGeom>
          <a:solidFill>
            <a:srgbClr val="E7D9C7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990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/hotels/[slug]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834640" y="29900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detayı + turu başlat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31520" y="3374136"/>
            <a:ext cx="3657600" cy="9144"/>
          </a:xfrm>
          <a:prstGeom prst="rect">
            <a:avLst/>
          </a:prstGeom>
          <a:solidFill>
            <a:srgbClr val="E7D9C7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4107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/hotels/.../rooms/...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834640" y="34107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 detayı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31520" y="3794760"/>
            <a:ext cx="3657600" cy="9144"/>
          </a:xfrm>
          <a:prstGeom prst="rect">
            <a:avLst/>
          </a:prstGeom>
          <a:solidFill>
            <a:srgbClr val="E7D9C7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38313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/tours/[otel]/[id]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834640" y="383133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TourPlayer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31520" y="4215384"/>
            <a:ext cx="3657600" cy="9144"/>
          </a:xfrm>
          <a:prstGeom prst="rect">
            <a:avLst/>
          </a:prstGeom>
          <a:solidFill>
            <a:srgbClr val="E7D9C7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4251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/inquiry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2834640" y="4251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Talep formu (mock API)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617720" y="1600200"/>
            <a:ext cx="4114800" cy="320040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17720" y="1600200"/>
            <a:ext cx="4114800" cy="45720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709928"/>
            <a:ext cx="237744" cy="237744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148072" y="1700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Otel paneli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484632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6949440" y="2148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bakış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4846320" y="2532888"/>
            <a:ext cx="3657600" cy="9144"/>
          </a:xfrm>
          <a:prstGeom prst="rect">
            <a:avLst/>
          </a:prstGeom>
          <a:solidFill>
            <a:srgbClr val="E7D9C7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846320" y="25694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/dashboard/property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6949440" y="256946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profili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4846320" y="2953512"/>
            <a:ext cx="3657600" cy="9144"/>
          </a:xfrm>
          <a:prstGeom prst="rect">
            <a:avLst/>
          </a:prstGeom>
          <a:solidFill>
            <a:srgbClr val="E7D9C7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846320" y="2990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/dashboard/tours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6949440" y="29900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 listesi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4846320" y="3374136"/>
            <a:ext cx="3657600" cy="9144"/>
          </a:xfrm>
          <a:prstGeom prst="rect">
            <a:avLst/>
          </a:prstGeom>
          <a:solidFill>
            <a:srgbClr val="E7D9C7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846320" y="34107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/dashboard/tours/[id]/edit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6949440" y="34107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editörü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4846320" y="3794760"/>
            <a:ext cx="3657600" cy="9144"/>
          </a:xfrm>
          <a:prstGeom prst="rect">
            <a:avLst/>
          </a:prstGeom>
          <a:solidFill>
            <a:srgbClr val="E7D9C7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846320" y="38313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/dashboard/media</a:t>
            </a:r>
            <a:endParaRPr lang="en-US" sz="1050" dirty="0"/>
          </a:p>
        </p:txBody>
      </p:sp>
      <p:sp>
        <p:nvSpPr>
          <p:cNvPr id="46" name="Text 42"/>
          <p:cNvSpPr/>
          <p:nvPr/>
        </p:nvSpPr>
        <p:spPr>
          <a:xfrm>
            <a:off x="6949440" y="383133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Medya hattı</a:t>
            </a:r>
            <a:endParaRPr lang="en-US" sz="1050" dirty="0"/>
          </a:p>
        </p:txBody>
      </p:sp>
      <p:sp>
        <p:nvSpPr>
          <p:cNvPr id="47" name="Shape 43"/>
          <p:cNvSpPr/>
          <p:nvPr/>
        </p:nvSpPr>
        <p:spPr>
          <a:xfrm>
            <a:off x="4846320" y="4215384"/>
            <a:ext cx="3657600" cy="9144"/>
          </a:xfrm>
          <a:prstGeom prst="rect">
            <a:avLst/>
          </a:prstGeom>
          <a:solidFill>
            <a:srgbClr val="E7D9C7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846320" y="4251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 (v1 için ertelendi)</a:t>
            </a:r>
            <a:endParaRPr lang="en-US" sz="1050" dirty="0"/>
          </a:p>
        </p:txBody>
      </p:sp>
      <p:sp>
        <p:nvSpPr>
          <p:cNvPr id="49" name="Text 45"/>
          <p:cNvSpPr/>
          <p:nvPr/>
        </p:nvSpPr>
        <p:spPr>
          <a:xfrm>
            <a:off x="6949440" y="4251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Moderasyon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E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DURUM: TAMAMLANAN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Bugüne kadar ne yaptık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91440" cy="91440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DENGIZEK  ·  Otel Pazaryeri &amp; Video Turları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00784"/>
            <a:ext cx="219456" cy="219456"/>
          </a:xfrm>
          <a:prstGeom prst="ellipse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773936"/>
            <a:ext cx="73152" cy="73152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64592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A — iskelet &amp; tasarım sistemi: Mantine 7 temelli butik lüks tema, tasarım token'ları (ADR 001/002).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176272"/>
            <a:ext cx="219456" cy="219456"/>
          </a:xfrm>
          <a:prstGeom prst="ellipse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249424"/>
            <a:ext cx="73152" cy="73152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121408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Misafir yüzeyi: anasayfa, /browse araması, otel detayı, oda detayı, talep formu (Zod + React Hook Form).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219456" cy="219456"/>
          </a:xfrm>
          <a:prstGeom prst="ellipse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724912"/>
            <a:ext cx="73152" cy="73152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596896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B — TourPlayer MVP: durum makinesi, klip pencereleri, callout + hotspot + dallanma, altyazı.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127248"/>
            <a:ext cx="219456" cy="219456"/>
          </a:xfrm>
          <a:prstGeom prst="ellipse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3200400"/>
            <a:ext cx="73152" cy="73152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072384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Erişilebilirlik: klavye kısayolları, aria-live, azaltılmış hareket, odak halkası.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602736"/>
            <a:ext cx="219456" cy="219456"/>
          </a:xfrm>
          <a:prstGeom prst="ellipse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3675888"/>
            <a:ext cx="73152" cy="73152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547872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şeması (v1): Zod doğrulama, sürümleme, demo içerik (aurelia-bay / demo-lobby).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078224"/>
            <a:ext cx="219456" cy="219456"/>
          </a:xfrm>
          <a:prstGeom prst="ellipse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" y="4151376"/>
            <a:ext cx="73152" cy="73152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02336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altyapısı: Vitest birim testleri + Playwright duman testleri, test-results klasörü.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E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HARITASI — YAKIN UFUK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 C: Otel paneli + CMS-lite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91440" cy="91440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DENGIZEK  ·  Otel Pazaryeri &amp; Video Turları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2609088" cy="141732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64208"/>
            <a:ext cx="73152" cy="141732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4708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1847088"/>
            <a:ext cx="1831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Medya hattı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2258568"/>
            <a:ext cx="2243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transcode → review → publish. Kodek/boyut/ süre validasyonu; hata mesajları.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13176" y="1664208"/>
            <a:ext cx="2609088" cy="141732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13176" y="1664208"/>
            <a:ext cx="73152" cy="141732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776" y="1847088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53256" y="1847088"/>
            <a:ext cx="1831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modeli + API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41776" y="2258568"/>
            <a:ext cx="2243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Postgres: Hotel, RoomType, Tour, TourStep, Media, Inquiry + RBAC; yayın anlık görüntüleri.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23432" y="1664208"/>
            <a:ext cx="2609088" cy="141732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23432" y="1664208"/>
            <a:ext cx="73152" cy="141732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032" y="184708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63512" y="1847088"/>
            <a:ext cx="1831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 düzenleyici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52032" y="2258568"/>
            <a:ext cx="2243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Sürükle-bırak adım sıralama, taslak/yayın ayrımı, iyimser kilitleme (409).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02920" y="3246120"/>
            <a:ext cx="2609088" cy="141732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02920" y="3246120"/>
            <a:ext cx="73152" cy="141732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29000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43000" y="3429000"/>
            <a:ext cx="1831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İmzalı oynatma URL'leri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31520" y="3840480"/>
            <a:ext cx="2243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ömürlü playback token; TourPlayer onRequestTokenRefresh ile yeniler.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313176" y="3246120"/>
            <a:ext cx="2609088" cy="141732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313176" y="3246120"/>
            <a:ext cx="73152" cy="141732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1776" y="3429000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953256" y="3429000"/>
            <a:ext cx="1831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Arama &amp; filtreler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3541776" y="3840480"/>
            <a:ext cx="2243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Şehir, fiyat aralığı, kolaylıklar. Postgres FTS + trigram; gerekirse Meilisearch.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123432" y="3246120"/>
            <a:ext cx="2609088" cy="141732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123432" y="3246120"/>
            <a:ext cx="73152" cy="141732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2032" y="3429000"/>
            <a:ext cx="292608" cy="29260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763512" y="3429000"/>
            <a:ext cx="1831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Hukuk + güven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6352032" y="3840480"/>
            <a:ext cx="2243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↔ platform sözleşme, misafir şartları, GDPR çerezleri (AB için).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E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HARITASI — ORTA VADE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 D: büyüme ve akıllı katmanlar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91440" cy="91440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DENGIZEK  ·  Otel Pazaryeri &amp; Video Turları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4023360" cy="292608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91640"/>
            <a:ext cx="4023360" cy="50292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013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Opsiyonel ürün katmanları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◦"/>
            </a:pPr>
            <a:r>
              <a:rPr lang="en-US" sz="120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liste / favoriler (anonim + e-posta).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◦"/>
            </a:pPr>
            <a:r>
              <a:rPr lang="en-US" sz="120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Kaydedilmiş aramalar + e-posta bildirim.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◦"/>
            </a:pPr>
            <a:r>
              <a:rPr lang="en-US" sz="120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İlişkisel TTS / önceden kaydedilmiş anlatım.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◦"/>
            </a:pPr>
            <a:r>
              <a:rPr lang="en-US" sz="120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responsive iyileştirme + PWA.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691640"/>
            <a:ext cx="4023360" cy="292608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691640"/>
            <a:ext cx="4023360" cy="50292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8013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Akıllı rehber (ileri)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237744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◦"/>
            </a:pPr>
            <a:r>
              <a:rPr lang="en-US" sz="120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SSS/politikaları üzerinde RAG paneli.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◦"/>
            </a:pPr>
            <a:r>
              <a:rPr lang="en-US" sz="120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 panel 'sor' deneyimi (tur akışını bloklamaz).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◦"/>
            </a:pPr>
            <a:r>
              <a:rPr lang="en-US" sz="120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Analitik: step funnel, PostHog olay kancaları.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◦"/>
            </a:pPr>
            <a:r>
              <a:rPr lang="en-US" sz="1200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iCal / kanal yöneticisi entegrasyonu (ileri).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E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Aşamalı teslim — A, B, C, 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91440" cy="91440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DENGIZEK  ·  Otel Pazaryeri &amp; Video Turları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0" y="2743200"/>
            <a:ext cx="6400800" cy="36576"/>
          </a:xfrm>
          <a:prstGeom prst="rect">
            <a:avLst/>
          </a:prstGeom>
          <a:solidFill>
            <a:srgbClr val="E7D9C7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 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İskelet &amp; tasarım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207008" y="2596896"/>
            <a:ext cx="329184" cy="329184"/>
          </a:xfrm>
          <a:prstGeom prst="ellipse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16736" y="2706624"/>
            <a:ext cx="109728" cy="109728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9080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 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9936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TourPlayer MVP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40608" y="2596896"/>
            <a:ext cx="329184" cy="329184"/>
          </a:xfrm>
          <a:prstGeom prst="ellipse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50336" y="2706624"/>
            <a:ext cx="109728" cy="109728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9080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2440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 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3296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+ CMS-lite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74208" y="2596896"/>
            <a:ext cx="329184" cy="329184"/>
          </a:xfrm>
          <a:prstGeom prst="ellipse">
            <a:avLst/>
          </a:prstGeom>
          <a:solidFill>
            <a:srgbClr val="FCF8F2"/>
          </a:solidFill>
          <a:ln w="25400">
            <a:solidFill>
              <a:srgbClr val="5A22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440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Sıradaki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 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6656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Büyüme + akıllı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607808" y="2596896"/>
            <a:ext cx="329184" cy="329184"/>
          </a:xfrm>
          <a:prstGeom prst="ellipse">
            <a:avLst/>
          </a:prstGeom>
          <a:solidFill>
            <a:srgbClr val="FCF8F2"/>
          </a:solidFill>
          <a:ln w="25400">
            <a:solidFill>
              <a:srgbClr val="5A22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069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sıralaması, ana planla (docs/plans/hotel_marketplace_video_tours.md) birebir eşleşir. Ödeme akışı v1 kapsamı dışındadır; önceliğimiz keşif kalitesi ve otel üretim yüküdür.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E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RISKLER &amp; KAPANIŞ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Gördüğümüz riskler, aldığımız önlemler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91440" cy="91440"/>
          </a:xfrm>
          <a:prstGeom prst="ellipse">
            <a:avLst/>
          </a:prstGeom>
          <a:solidFill>
            <a:srgbClr val="BE8A4F"/>
          </a:solidFill>
          <a:ln w="12700">
            <a:solidFill>
              <a:srgbClr val="BE8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DENGIZEK  ·  Otel Pazaryeri &amp; Video Turları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8229600" cy="457200"/>
          </a:xfrm>
          <a:prstGeom prst="rect">
            <a:avLst/>
          </a:prstGeom>
          <a:solidFill>
            <a:srgbClr val="EADCCB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91640"/>
            <a:ext cx="73152" cy="45720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647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üretim yükü (video çekimi).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63440" y="176479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Şablonlar, çekim kılavuzu, opsiyonel partner videograf.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203704"/>
            <a:ext cx="8229600" cy="45720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203704"/>
            <a:ext cx="73152" cy="45720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27685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ses kapsam kayması.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63440" y="227685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TTS / önceden kayıt; LLM metrik gerekçesinden sonra.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715768"/>
            <a:ext cx="8229600" cy="457200"/>
          </a:xfrm>
          <a:prstGeom prst="rect">
            <a:avLst/>
          </a:prstGeom>
          <a:solidFill>
            <a:srgbClr val="EADCCB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715768"/>
            <a:ext cx="73152" cy="45720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7889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Müzik / telif hakları.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63440" y="27889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Sözleşmede açık lisans; izin verilen kütüphaneler.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227832"/>
            <a:ext cx="8229600" cy="457200"/>
          </a:xfrm>
          <a:prstGeom prst="rect">
            <a:avLst/>
          </a:prstGeom>
          <a:solidFill>
            <a:srgbClr val="FCF8F2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227832"/>
            <a:ext cx="73152" cy="45720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300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seansta imzalı URL sona erer.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63440" y="33009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onRequestTokenRefresh ile zamanında yenileme.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3739896"/>
            <a:ext cx="8229600" cy="457200"/>
          </a:xfrm>
          <a:prstGeom prst="rect">
            <a:avLst/>
          </a:prstGeom>
          <a:solidFill>
            <a:srgbClr val="EADCCB"/>
          </a:solidFill>
          <a:ln w="12700">
            <a:solidFill>
              <a:srgbClr val="E7D9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739896"/>
            <a:ext cx="73152" cy="45720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8130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 zamanlı editör çakışması.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63440" y="381304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İyimser kilitleme + 409 çakışma arayüzü.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4434840"/>
            <a:ext cx="8229600" cy="457200"/>
          </a:xfrm>
          <a:prstGeom prst="rect">
            <a:avLst/>
          </a:prstGeom>
          <a:solidFill>
            <a:srgbClr val="5A2236"/>
          </a:solidFill>
          <a:ln w="12700">
            <a:solidFill>
              <a:srgbClr val="5A22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46227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Teşekkürler  ·  Sorular, not ve önerilerinize açığız.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Dengizek — Otel Pazaryeri ve Video Turları (Proje Sunumu)</dc:title>
  <dc:subject>PptxGenJS Presentation</dc:subject>
  <dc:creator>Dengizek</dc:creator>
  <cp:lastModifiedBy>Dengizek</cp:lastModifiedBy>
  <cp:revision>1</cp:revision>
  <dcterms:created xsi:type="dcterms:W3CDTF">2026-04-24T18:07:33Z</dcterms:created>
  <dcterms:modified xsi:type="dcterms:W3CDTF">2026-04-24T18:07:33Z</dcterms:modified>
</cp:coreProperties>
</file>