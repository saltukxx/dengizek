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011680"/>
            <a:ext cx="3291840" cy="3291840"/>
          </a:xfrm>
          <a:prstGeom prst="ellipse">
            <a:avLst/>
          </a:prstGeom>
          <a:solidFill>
            <a:srgbClr val="A855F7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1005840"/>
            <a:ext cx="1280160" cy="12801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-1463040"/>
            <a:ext cx="2194560" cy="21945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-1920240"/>
            <a:ext cx="3108960" cy="31089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0" y="365760"/>
            <a:ext cx="4389120" cy="4389120"/>
          </a:xfrm>
          <a:prstGeom prst="ellipse">
            <a:avLst/>
          </a:prstGeom>
          <a:solidFill>
            <a:srgbClr val="0A0E27">
              <a:alpha val="0"/>
            </a:srgbClr>
          </a:solidFill>
          <a:ln w="1778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0" y="1005840"/>
            <a:ext cx="3108960" cy="3108960"/>
          </a:xfrm>
          <a:prstGeom prst="ellipse">
            <a:avLst/>
          </a:prstGeom>
          <a:solidFill>
            <a:srgbClr val="0A0E27">
              <a:alpha val="0"/>
            </a:srgbClr>
          </a:solidFill>
          <a:ln w="1778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1600200"/>
            <a:ext cx="1920240" cy="1920240"/>
          </a:xfrm>
          <a:prstGeom prst="ellipse">
            <a:avLst/>
          </a:prstGeom>
          <a:solidFill>
            <a:srgbClr val="0A0E27">
              <a:alpha val="0"/>
            </a:srgbClr>
          </a:solidFill>
          <a:ln w="17780">
            <a:solidFill>
              <a:srgbClr val="F472B6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240280"/>
            <a:ext cx="640080" cy="6400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67E8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2450592"/>
            <a:ext cx="219456" cy="21945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57200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206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DENGIZEK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169164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Otelleri,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gitmeden gezin.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Etkileşimli video turlar 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 yeni nesil pazaryeri.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1161288" cy="347472"/>
          </a:xfrm>
          <a:prstGeom prst="roundRect">
            <a:avLst>
              <a:gd name="adj" fmla="val 50000"/>
            </a:avLst>
          </a:prstGeom>
          <a:solidFill>
            <a:srgbClr val="111838"/>
          </a:solidFill>
          <a:ln w="1143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389120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Vizyon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874520" y="4389120"/>
            <a:ext cx="1078992" cy="347472"/>
          </a:xfrm>
          <a:prstGeom prst="roundRect">
            <a:avLst>
              <a:gd name="adj" fmla="val 50000"/>
            </a:avLst>
          </a:prstGeom>
          <a:solidFill>
            <a:srgbClr val="111838"/>
          </a:solidFill>
          <a:ln w="11430">
            <a:solidFill>
              <a:srgbClr val="F4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4520" y="4389120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— Keşif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18104" y="438912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111838"/>
          </a:solidFill>
          <a:ln w="1143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18104" y="4389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~150–500 otel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011680"/>
            <a:ext cx="3291840" cy="3291840"/>
          </a:xfrm>
          <a:prstGeom prst="ellipse">
            <a:avLst/>
          </a:prstGeom>
          <a:solidFill>
            <a:srgbClr val="A855F7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1005840"/>
            <a:ext cx="1280160" cy="12801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-1463040"/>
            <a:ext cx="2194560" cy="21945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-1920240"/>
            <a:ext cx="3108960" cy="31089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VİZYON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Misafir, otele </a:t>
            </a:r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adım atmadan önce </a:t>
            </a:r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gerçek anlamda gezer.</a:t>
            </a:r>
            <a:endParaRPr lang="en-US" sz="4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6858000" y="3749040"/>
            <a:ext cx="1280160" cy="914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39319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Fotoğraf listelerinin bıraktığı boşluğu, sinema gibi akan, istediğinde duran rehberli bir tur kapatıyor.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754880"/>
            <a:ext cx="109728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011680"/>
            <a:ext cx="3291840" cy="3291840"/>
          </a:xfrm>
          <a:prstGeom prst="ellipse">
            <a:avLst/>
          </a:prstGeom>
          <a:solidFill>
            <a:srgbClr val="A855F7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1005840"/>
            <a:ext cx="1280160" cy="12801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-1463040"/>
            <a:ext cx="2194560" cy="21945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-1920240"/>
            <a:ext cx="3108960" cy="31089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65760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DENGIZEK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 YAPIYORUZ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Otelleri, akıllı bir rehber gibi gezdiriyoruz.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863840" y="320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194560"/>
            <a:ext cx="2621280" cy="2377440"/>
          </a:xfrm>
          <a:prstGeom prst="roundRect">
            <a:avLst>
              <a:gd name="adj" fmla="val 6923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240280"/>
            <a:ext cx="2529840" cy="2286000"/>
          </a:xfrm>
          <a:prstGeom prst="roundRect">
            <a:avLst>
              <a:gd name="adj" fmla="val 5600"/>
            </a:avLst>
          </a:prstGeom>
          <a:solidFill>
            <a:srgbClr val="111838"/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258568"/>
            <a:ext cx="207264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60320"/>
            <a:ext cx="502920" cy="502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2346960" y="2514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2960" y="320040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Keşif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22960" y="3657600"/>
            <a:ext cx="207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Şehir, tarz ve oda tipine göre göz atın; sade, hızlı, reklamsız.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61360" y="2194560"/>
            <a:ext cx="2621280" cy="2377440"/>
          </a:xfrm>
          <a:prstGeom prst="roundRect">
            <a:avLst>
              <a:gd name="adj" fmla="val 6923"/>
            </a:avLst>
          </a:prstGeom>
          <a:solidFill>
            <a:srgbClr val="F472B6">
              <a:alpha val="8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07080" y="2240280"/>
            <a:ext cx="2529840" cy="2286000"/>
          </a:xfrm>
          <a:prstGeom prst="roundRect">
            <a:avLst>
              <a:gd name="adj" fmla="val 5600"/>
            </a:avLst>
          </a:prstGeom>
          <a:solidFill>
            <a:srgbClr val="111838"/>
          </a:solidFill>
          <a:ln w="15240">
            <a:solidFill>
              <a:srgbClr val="F472B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535680" y="2258568"/>
            <a:ext cx="207264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560320"/>
            <a:ext cx="502920" cy="5029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105400" y="2514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581400" y="320040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Etkileşimli tur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3581400" y="3657600"/>
            <a:ext cx="207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Lobi, koridor, oda — adım adım, durdurulabilir rehberli bir deneyim.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019800" y="2194560"/>
            <a:ext cx="2621280" cy="2377440"/>
          </a:xfrm>
          <a:prstGeom prst="roundRect">
            <a:avLst>
              <a:gd name="adj" fmla="val 6923"/>
            </a:avLst>
          </a:prstGeom>
          <a:solidFill>
            <a:srgbClr val="A855F7">
              <a:alpha val="8000"/>
            </a:srgbClr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065520" y="2240280"/>
            <a:ext cx="2529840" cy="2286000"/>
          </a:xfrm>
          <a:prstGeom prst="roundRect">
            <a:avLst>
              <a:gd name="adj" fmla="val 5600"/>
            </a:avLst>
          </a:prstGeom>
          <a:solidFill>
            <a:srgbClr val="111838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294120" y="2258568"/>
            <a:ext cx="207264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840" y="2560320"/>
            <a:ext cx="502920" cy="5029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863840" y="2514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339840" y="3200400"/>
            <a:ext cx="207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Talep</a:t>
            </a:r>
            <a:endParaRPr lang="en-US" sz="2000" dirty="0"/>
          </a:p>
        </p:txBody>
      </p:sp>
      <p:sp>
        <p:nvSpPr>
          <p:cNvPr id="34" name="Text 29"/>
          <p:cNvSpPr/>
          <p:nvPr/>
        </p:nvSpPr>
        <p:spPr>
          <a:xfrm>
            <a:off x="6339840" y="3657600"/>
            <a:ext cx="207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Beğendiğiniz otele doğrudan soru sorun. Komisyonsuz, açık iletişim.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cümle ile: otellerin dijital vitrinini "hareketli" yapıyoruz.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011680"/>
            <a:ext cx="3291840" cy="3291840"/>
          </a:xfrm>
          <a:prstGeom prst="ellipse">
            <a:avLst/>
          </a:prstGeom>
          <a:solidFill>
            <a:srgbClr val="A855F7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1005840"/>
            <a:ext cx="1280160" cy="12801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-1463040"/>
            <a:ext cx="2194560" cy="21945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-1920240"/>
            <a:ext cx="3108960" cy="31089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65760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DENGIZEK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TEKNOLOJI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Modern, sade, büyümeye hazır.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863840" y="320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331720"/>
            <a:ext cx="1860804" cy="2240280"/>
          </a:xfrm>
          <a:prstGeom prst="roundRect">
            <a:avLst>
              <a:gd name="adj" fmla="val 6880"/>
            </a:avLst>
          </a:prstGeom>
          <a:solidFill>
            <a:srgbClr val="111838"/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962" y="2103120"/>
            <a:ext cx="1280160" cy="1280160"/>
          </a:xfrm>
          <a:prstGeom prst="ellipse">
            <a:avLst/>
          </a:prstGeom>
          <a:solidFill>
            <a:srgbClr val="22D3EE">
              <a:alpha val="1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7562" y="2606040"/>
            <a:ext cx="822960" cy="822960"/>
          </a:xfrm>
          <a:prstGeom prst="ellipse">
            <a:avLst/>
          </a:prstGeom>
          <a:solidFill>
            <a:srgbClr val="050814"/>
          </a:solidFill>
          <a:ln w="20320">
            <a:solidFill>
              <a:srgbClr val="22D3E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4722" y="2743200"/>
            <a:ext cx="548640" cy="548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85800" y="3566160"/>
            <a:ext cx="15864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web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31520" y="4023360"/>
            <a:ext cx="14950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yüklenen, mobil dostu bir site.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610612" y="2331720"/>
            <a:ext cx="1860804" cy="2240280"/>
          </a:xfrm>
          <a:prstGeom prst="roundRect">
            <a:avLst>
              <a:gd name="adj" fmla="val 6880"/>
            </a:avLst>
          </a:prstGeom>
          <a:solidFill>
            <a:srgbClr val="111838"/>
          </a:solidFill>
          <a:ln w="12700">
            <a:solidFill>
              <a:srgbClr val="F472B6">
                <a:alpha val="6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00934" y="2103120"/>
            <a:ext cx="1280160" cy="1280160"/>
          </a:xfrm>
          <a:prstGeom prst="ellipse">
            <a:avLst/>
          </a:prstGeom>
          <a:solidFill>
            <a:srgbClr val="F472B6">
              <a:alpha val="12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29534" y="2606040"/>
            <a:ext cx="822960" cy="822960"/>
          </a:xfrm>
          <a:prstGeom prst="ellipse">
            <a:avLst/>
          </a:prstGeom>
          <a:solidFill>
            <a:srgbClr val="050814"/>
          </a:solidFill>
          <a:ln w="20320">
            <a:solidFill>
              <a:srgbClr val="F472B6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694" y="2743200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747772" y="3566160"/>
            <a:ext cx="15864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Akıcı video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2793492" y="4023360"/>
            <a:ext cx="14950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Dünya çapında CDN üzerinden net görüntü.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672584" y="2331720"/>
            <a:ext cx="1860804" cy="2240280"/>
          </a:xfrm>
          <a:prstGeom prst="roundRect">
            <a:avLst>
              <a:gd name="adj" fmla="val 6880"/>
            </a:avLst>
          </a:prstGeom>
          <a:solidFill>
            <a:srgbClr val="111838"/>
          </a:solidFill>
          <a:ln w="12700">
            <a:solidFill>
              <a:srgbClr val="A855F7">
                <a:alpha val="60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962906" y="2103120"/>
            <a:ext cx="1280160" cy="128016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191506" y="2606040"/>
            <a:ext cx="822960" cy="822960"/>
          </a:xfrm>
          <a:prstGeom prst="ellipse">
            <a:avLst/>
          </a:prstGeom>
          <a:solidFill>
            <a:srgbClr val="050814"/>
          </a:solidFill>
          <a:ln w="20320">
            <a:solidFill>
              <a:srgbClr val="A855F7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666" y="2743200"/>
            <a:ext cx="548640" cy="5486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809744" y="3566160"/>
            <a:ext cx="15864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Akıllı rehber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4855464" y="4023360"/>
            <a:ext cx="14950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Zamanı gelince sesli/metin anlatım.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734556" y="2331720"/>
            <a:ext cx="1860804" cy="2240280"/>
          </a:xfrm>
          <a:prstGeom prst="roundRect">
            <a:avLst>
              <a:gd name="adj" fmla="val 6880"/>
            </a:avLst>
          </a:prstGeom>
          <a:solidFill>
            <a:srgbClr val="111838"/>
          </a:solidFill>
          <a:ln w="12700">
            <a:solidFill>
              <a:srgbClr val="A3E635">
                <a:alpha val="6000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7024878" y="2103120"/>
            <a:ext cx="1280160" cy="1280160"/>
          </a:xfrm>
          <a:prstGeom prst="ellipse">
            <a:avLst/>
          </a:prstGeom>
          <a:solidFill>
            <a:srgbClr val="A3E635">
              <a:alpha val="12000"/>
            </a:srgbClr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253478" y="2606040"/>
            <a:ext cx="822960" cy="822960"/>
          </a:xfrm>
          <a:prstGeom prst="ellipse">
            <a:avLst/>
          </a:prstGeom>
          <a:solidFill>
            <a:srgbClr val="050814"/>
          </a:solidFill>
          <a:ln w="20320">
            <a:solidFill>
              <a:srgbClr val="A3E635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638" y="2743200"/>
            <a:ext cx="548640" cy="54864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71716" y="3566160"/>
            <a:ext cx="15864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Güvenli altyapı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6917436" y="4023360"/>
            <a:ext cx="14950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Bulut, yedek, gizlilik standardı.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tercihler, ürün hızını ve misafir deneyimini korumak için sade tutuluyor.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011680"/>
            <a:ext cx="3291840" cy="3291840"/>
          </a:xfrm>
          <a:prstGeom prst="ellipse">
            <a:avLst/>
          </a:prstGeom>
          <a:solidFill>
            <a:srgbClr val="A855F7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1005840"/>
            <a:ext cx="1280160" cy="12801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-1463040"/>
            <a:ext cx="2194560" cy="21945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-1920240"/>
            <a:ext cx="3108960" cy="31089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65760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DENGIZEK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SONUÇ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Ortaya ne çıkacak?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863840" y="320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" y="2093976"/>
            <a:ext cx="4041648" cy="2944368"/>
          </a:xfrm>
          <a:prstGeom prst="roundRect">
            <a:avLst>
              <a:gd name="adj" fmla="val 6832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148840"/>
            <a:ext cx="3931920" cy="2834640"/>
          </a:xfrm>
          <a:prstGeom prst="roundRect">
            <a:avLst>
              <a:gd name="adj" fmla="val 5806"/>
            </a:avLst>
          </a:prstGeom>
          <a:solidFill>
            <a:srgbClr val="111838"/>
          </a:solidFill>
          <a:ln w="1651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194560"/>
            <a:ext cx="3383280" cy="274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468880"/>
            <a:ext cx="548640" cy="5486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54480" y="2496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Misafir için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868680" y="3108960"/>
            <a:ext cx="73152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32688" y="3429000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88720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Rezervasyondan önce mekânı hisseder.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932688" y="3840480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88720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hızında gezer, istediğinde durur.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32688" y="4251960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4160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otele daha kısa yoldan ulaşır.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4608576" y="2093976"/>
            <a:ext cx="4041648" cy="2944368"/>
          </a:xfrm>
          <a:prstGeom prst="roundRect">
            <a:avLst>
              <a:gd name="adj" fmla="val 6832"/>
            </a:avLst>
          </a:prstGeom>
          <a:solidFill>
            <a:srgbClr val="F472B6">
              <a:alpha val="12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63440" y="2148840"/>
            <a:ext cx="3931920" cy="2834640"/>
          </a:xfrm>
          <a:prstGeom prst="roundRect">
            <a:avLst>
              <a:gd name="adj" fmla="val 5806"/>
            </a:avLst>
          </a:prstGeom>
          <a:solidFill>
            <a:srgbClr val="111838"/>
          </a:solidFill>
          <a:ln w="16510">
            <a:solidFill>
              <a:srgbClr val="F472B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937760" y="2194560"/>
            <a:ext cx="3383280" cy="2743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468880"/>
            <a:ext cx="548640" cy="5486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669280" y="2496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Otel için</a:t>
            </a:r>
            <a:endParaRPr lang="en-US" sz="2200" dirty="0"/>
          </a:p>
        </p:txBody>
      </p:sp>
      <p:sp>
        <p:nvSpPr>
          <p:cNvPr id="31" name="Shape 27"/>
          <p:cNvSpPr/>
          <p:nvPr/>
        </p:nvSpPr>
        <p:spPr>
          <a:xfrm>
            <a:off x="4983480" y="3108960"/>
            <a:ext cx="73152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047488" y="3429000"/>
            <a:ext cx="146304" cy="146304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303520" y="3337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Rakiplerden ayrışan bir vitrin.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5047488" y="3840480"/>
            <a:ext cx="146304" cy="146304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303520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Daha kaliteli talepler, daha az soru.</a:t>
            </a:r>
            <a:endParaRPr lang="en-US" sz="1350" dirty="0"/>
          </a:p>
        </p:txBody>
      </p:sp>
      <p:sp>
        <p:nvSpPr>
          <p:cNvPr id="36" name="Shape 32"/>
          <p:cNvSpPr/>
          <p:nvPr/>
        </p:nvSpPr>
        <p:spPr>
          <a:xfrm>
            <a:off x="5047488" y="4251960"/>
            <a:ext cx="146304" cy="146304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303520" y="4160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paneden tüm içerik yönetimi.</a:t>
            </a:r>
            <a:endParaRPr lang="en-US" sz="1350" dirty="0"/>
          </a:p>
        </p:txBody>
      </p:sp>
      <p:sp>
        <p:nvSpPr>
          <p:cNvPr id="38" name="Text 34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Sonuç: gösteren değil, yaşatan bir otel keşfi.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011680"/>
            <a:ext cx="3291840" cy="3291840"/>
          </a:xfrm>
          <a:prstGeom prst="ellipse">
            <a:avLst/>
          </a:prstGeom>
          <a:solidFill>
            <a:srgbClr val="A855F7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1005840"/>
            <a:ext cx="1280160" cy="12801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-1463040"/>
            <a:ext cx="2194560" cy="21945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-1920240"/>
            <a:ext cx="3108960" cy="31089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65760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DENGIZEK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YOL HARITASI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Nasıl ilerleyeceğiz?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863840" y="320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3017520"/>
            <a:ext cx="6400800" cy="36576"/>
          </a:xfrm>
          <a:prstGeom prst="rect">
            <a:avLst/>
          </a:prstGeom>
          <a:solidFill>
            <a:srgbClr val="1E2A56"/>
          </a:solidFill>
          <a:ln w="12700">
            <a:solidFill>
              <a:srgbClr val="1E2A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017520"/>
            <a:ext cx="3200400" cy="36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Temel deneyim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hazır.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0120" y="2624328"/>
            <a:ext cx="822960" cy="82296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" y="2834640"/>
            <a:ext cx="402336" cy="40233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98448" y="2962656"/>
            <a:ext cx="146304" cy="14630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BUGÜN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Aktif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6220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Etkileşimli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 yayında.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093720" y="2624328"/>
            <a:ext cx="822960" cy="82296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04032" y="2834640"/>
            <a:ext cx="402336" cy="402336"/>
          </a:xfrm>
          <a:prstGeom prst="ellipse">
            <a:avLst/>
          </a:prstGeom>
          <a:solidFill>
            <a:srgbClr val="22D3EE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32048" y="2962656"/>
            <a:ext cx="146304" cy="14630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07920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YAKINDA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9080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Aktif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9580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Otel paneli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içerik yönetimi.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227320" y="2624328"/>
            <a:ext cx="822960" cy="82296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37632" y="2834640"/>
            <a:ext cx="402336" cy="402336"/>
          </a:xfrm>
          <a:prstGeom prst="ellipse">
            <a:avLst/>
          </a:prstGeom>
          <a:solidFill>
            <a:srgbClr val="050814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1520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472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SONRA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2440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Planlı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9400" y="21945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Akıllı rehber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 büyüme.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360920" y="2624328"/>
            <a:ext cx="822960" cy="822960"/>
          </a:xfrm>
          <a:prstGeom prst="ellipse">
            <a:avLst/>
          </a:prstGeom>
          <a:solidFill>
            <a:srgbClr val="A855F7">
              <a:alpha val="16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71232" y="2834640"/>
            <a:ext cx="402336" cy="402336"/>
          </a:xfrm>
          <a:prstGeom prst="ellipse">
            <a:avLst/>
          </a:prstGeom>
          <a:solidFill>
            <a:srgbClr val="050814"/>
          </a:solidFill>
          <a:ln w="254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4015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UZUN VADE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Planlı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Sürdürülebilir bir tempoda; her aşama önceki üzerine kurulur.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2011680"/>
            <a:ext cx="3291840" cy="3291840"/>
          </a:xfrm>
          <a:prstGeom prst="ellipse">
            <a:avLst/>
          </a:prstGeom>
          <a:solidFill>
            <a:srgbClr val="A855F7">
              <a:alpha val="2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3291840"/>
            <a:ext cx="3291840" cy="329184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-1005840"/>
            <a:ext cx="1280160" cy="12801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-1463040"/>
            <a:ext cx="2194560" cy="21945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-1920240"/>
            <a:ext cx="3108960" cy="3108960"/>
          </a:xfrm>
          <a:prstGeom prst="ellipse">
            <a:avLst/>
          </a:prstGeom>
          <a:solidFill>
            <a:srgbClr val="0A0E27">
              <a:alpha val="0"/>
            </a:srgbClr>
          </a:solidFill>
          <a:ln w="762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Otel seçmek </a:t>
            </a:r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hissetmekle başlar.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3716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Dengizek, bu hissi rezervasyon öncesine taşıyor.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11838"/>
          </a:solidFill>
          <a:ln w="1397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453128"/>
            <a:ext cx="237744" cy="23774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3708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TEŞEKKÜRLER  ·  SORULARINIZ?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772400" y="4434840"/>
            <a:ext cx="54864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Dengizek — Vizyon Sunumu</dc:title>
  <dc:subject>PptxGenJS Presentation</dc:subject>
  <dc:creator>Dengizek</dc:creator>
  <cp:lastModifiedBy>Dengizek</cp:lastModifiedBy>
  <cp:revision>1</cp:revision>
  <dcterms:created xsi:type="dcterms:W3CDTF">2026-04-24T18:53:21Z</dcterms:created>
  <dcterms:modified xsi:type="dcterms:W3CDTF">2026-04-24T18:53:21Z</dcterms:modified>
</cp:coreProperties>
</file>